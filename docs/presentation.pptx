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22E"/>
                </a:solidFill>
                <a:latin typeface="Arial"/>
              </a:rPr>
              <a:t>Hourly average temperature (°C) — from hourly_aggregates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temp-001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17:00</c:v>
                  </c:pt>
                  <c:pt idx="1">
                    <c:v>18:00</c:v>
                  </c:pt>
                  <c:pt idx="2">
                    <c:v>19:00</c:v>
                  </c:pt>
                  <c:pt idx="3">
                    <c:v>20:00</c:v>
                  </c:pt>
                  <c:pt idx="4">
                    <c:v>21:00</c:v>
                  </c:pt>
                  <c:pt idx="5">
                    <c:v>22:00</c:v>
                  </c:pt>
                  <c:pt idx="6">
                    <c:v>23:00</c:v>
                  </c:pt>
                  <c:pt idx="7">
                    <c:v>00:00</c:v>
                  </c:pt>
                  <c:pt idx="8">
                    <c:v>01:00</c:v>
                  </c:pt>
                  <c:pt idx="9">
                    <c:v>02:00</c:v>
                  </c:pt>
                  <c:pt idx="10">
                    <c:v>03:00</c:v>
                  </c:pt>
                  <c:pt idx="11">
                    <c:v>04:00</c:v>
                  </c:pt>
                  <c:pt idx="12">
                    <c:v>05:00</c:v>
                  </c:pt>
                  <c:pt idx="13">
                    <c:v>06:00</c:v>
                  </c:pt>
                  <c:pt idx="14">
                    <c:v>07:00</c:v>
                  </c:pt>
                  <c:pt idx="15">
                    <c:v>08:00</c:v>
                  </c:pt>
                  <c:pt idx="16">
                    <c:v>09:00</c:v>
                  </c:pt>
                  <c:pt idx="17">
                    <c:v>10:00</c:v>
                  </c:pt>
                  <c:pt idx="18">
                    <c:v>11:00</c:v>
                  </c:pt>
                  <c:pt idx="19">
                    <c:v>12:00</c:v>
                  </c:pt>
                  <c:pt idx="20">
                    <c:v>13:00</c:v>
                  </c:pt>
                  <c:pt idx="21">
                    <c:v>14:00</c:v>
                  </c:pt>
                  <c:pt idx="22">
                    <c:v>15:00</c:v>
                  </c:pt>
                  <c:pt idx="23">
                    <c:v>16:00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21.7</c:v>
                </c:pt>
                <c:pt idx="1">
                  <c:v>20.7</c:v>
                </c:pt>
                <c:pt idx="2">
                  <c:v>20.2</c:v>
                </c:pt>
                <c:pt idx="3">
                  <c:v>19.8</c:v>
                </c:pt>
                <c:pt idx="4">
                  <c:v>20.2</c:v>
                </c:pt>
                <c:pt idx="5">
                  <c:v>20.8</c:v>
                </c:pt>
                <c:pt idx="6">
                  <c:v>21.8</c:v>
                </c:pt>
                <c:pt idx="7">
                  <c:v>22.5</c:v>
                </c:pt>
                <c:pt idx="8">
                  <c:v>24.3</c:v>
                </c:pt>
                <c:pt idx="9">
                  <c:v>26.1</c:v>
                </c:pt>
                <c:pt idx="10">
                  <c:v>27.6</c:v>
                </c:pt>
                <c:pt idx="11">
                  <c:v>28.9</c:v>
                </c:pt>
                <c:pt idx="12">
                  <c:v>30.3</c:v>
                </c:pt>
                <c:pt idx="13">
                  <c:v>31.3</c:v>
                </c:pt>
                <c:pt idx="14">
                  <c:v>31.5</c:v>
                </c:pt>
                <c:pt idx="15">
                  <c:v>32.1</c:v>
                </c:pt>
                <c:pt idx="16">
                  <c:v>32</c:v>
                </c:pt>
                <c:pt idx="17">
                  <c:v>31.4</c:v>
                </c:pt>
                <c:pt idx="18">
                  <c:v>30.4</c:v>
                </c:pt>
                <c:pt idx="19">
                  <c:v>29.1</c:v>
                </c:pt>
                <c:pt idx="20">
                  <c:v>27.4</c:v>
                </c:pt>
                <c:pt idx="21">
                  <c:v>25.9</c:v>
                </c:pt>
                <c:pt idx="22">
                  <c:v>24.7</c:v>
                </c:pt>
                <c:pt idx="23">
                  <c:v>22.9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temp-002</c:v>
                </c:pt>
              </c:strCache>
            </c:strRef>
          </c:tx>
          <c:spPr>
            <a:solidFill>
              <a:srgbClr val="1BAF7A"/>
            </a:solidFill>
            <a:ln w="3175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17:00</c:v>
                  </c:pt>
                  <c:pt idx="1">
                    <c:v>18:00</c:v>
                  </c:pt>
                  <c:pt idx="2">
                    <c:v>19:00</c:v>
                  </c:pt>
                  <c:pt idx="3">
                    <c:v>20:00</c:v>
                  </c:pt>
                  <c:pt idx="4">
                    <c:v>21:00</c:v>
                  </c:pt>
                  <c:pt idx="5">
                    <c:v>22:00</c:v>
                  </c:pt>
                  <c:pt idx="6">
                    <c:v>23:00</c:v>
                  </c:pt>
                  <c:pt idx="7">
                    <c:v>00:00</c:v>
                  </c:pt>
                  <c:pt idx="8">
                    <c:v>01:00</c:v>
                  </c:pt>
                  <c:pt idx="9">
                    <c:v>02:00</c:v>
                  </c:pt>
                  <c:pt idx="10">
                    <c:v>03:00</c:v>
                  </c:pt>
                  <c:pt idx="11">
                    <c:v>04:00</c:v>
                  </c:pt>
                  <c:pt idx="12">
                    <c:v>05:00</c:v>
                  </c:pt>
                  <c:pt idx="13">
                    <c:v>06:00</c:v>
                  </c:pt>
                  <c:pt idx="14">
                    <c:v>07:00</c:v>
                  </c:pt>
                  <c:pt idx="15">
                    <c:v>08:00</c:v>
                  </c:pt>
                  <c:pt idx="16">
                    <c:v>09:00</c:v>
                  </c:pt>
                  <c:pt idx="17">
                    <c:v>10:00</c:v>
                  </c:pt>
                  <c:pt idx="18">
                    <c:v>11:00</c:v>
                  </c:pt>
                  <c:pt idx="19">
                    <c:v>12:00</c:v>
                  </c:pt>
                  <c:pt idx="20">
                    <c:v>13:00</c:v>
                  </c:pt>
                  <c:pt idx="21">
                    <c:v>14:00</c:v>
                  </c:pt>
                  <c:pt idx="22">
                    <c:v>15:00</c:v>
                  </c:pt>
                  <c:pt idx="23">
                    <c:v>16:00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21.4</c:v>
                </c:pt>
                <c:pt idx="1">
                  <c:v>20.7</c:v>
                </c:pt>
                <c:pt idx="2">
                  <c:v>19.7</c:v>
                </c:pt>
                <c:pt idx="3">
                  <c:v>19.3</c:v>
                </c:pt>
                <c:pt idx="4">
                  <c:v>18.9</c:v>
                </c:pt>
                <c:pt idx="5">
                  <c:v>18.9</c:v>
                </c:pt>
                <c:pt idx="6">
                  <c:v>19.8</c:v>
                </c:pt>
                <c:pt idx="7">
                  <c:v>20.4</c:v>
                </c:pt>
                <c:pt idx="8">
                  <c:v>22.1</c:v>
                </c:pt>
                <c:pt idx="9">
                  <c:v>22.5</c:v>
                </c:pt>
                <c:pt idx="10">
                  <c:v>23.8</c:v>
                </c:pt>
                <c:pt idx="11">
                  <c:v>25.2</c:v>
                </c:pt>
                <c:pt idx="12">
                  <c:v>26.5</c:v>
                </c:pt>
                <c:pt idx="13">
                  <c:v>27.5</c:v>
                </c:pt>
                <c:pt idx="14">
                  <c:v>28.2</c:v>
                </c:pt>
                <c:pt idx="15">
                  <c:v>28.7</c:v>
                </c:pt>
                <c:pt idx="16">
                  <c:v>29.2</c:v>
                </c:pt>
                <c:pt idx="17">
                  <c:v>28.8</c:v>
                </c:pt>
                <c:pt idx="18">
                  <c:v>28.4</c:v>
                </c:pt>
                <c:pt idx="19">
                  <c:v>27.4</c:v>
                </c:pt>
                <c:pt idx="20">
                  <c:v>26.5</c:v>
                </c:pt>
                <c:pt idx="21">
                  <c:v>25</c:v>
                </c:pt>
                <c:pt idx="22">
                  <c:v>23.9</c:v>
                </c:pt>
                <c:pt idx="23">
                  <c:v>22.8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EE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36"/>
          <c:min val="16"/>
        </c:scaling>
        <c:delete val="0"/>
        <c:axPos val="l"/>
        <c:majorGridlines>
          <c:spPr>
            <a:ln w="9525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DEE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(0:00–0:40) Intro: an end-to-end IoT pipeline — simulated sensors stream readings into a FastAPI service on EC2, an hourly job aggregates into RDS and archives Parquet to S3, and a Next.js dashboard on Vercel shows it live. Everything reuses infrastructure proven in Weeks 1–7.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(0:40–1:30) Frame the three tensions: high-frequency writes, low-latency reads, cheap long-term storage. One system rarely does all three — that's why the architecture splits raw, aggregate, and archive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(1:30–3:00) Walk the diagram left to right. Emphasize: dashboard queries never touch the raw table — they hit small pre-aggregated rows. The same hourly job also archives the raw batch to S3 as Parquet, so history is cheap and re-queryable (Athena-ready Hive partitions).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(3:00–4:00) One reading, five stops. Call out the two-timestamps decision at step 2 — it's what makes step 3 correct for late data. Mention the 422 demo you'll do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(4:00–5:00) The meta-lesson of the course: leverage. Every capstone component maps to something already proven in weeks 1–7, which is why the whole system was buildable in one week. Cost stayed ~zero because it shares the existing EC2/RDS footprint.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(5:00–7:00) Switch to the live demo — follow docs/demo-workflow.md. The four beats: live dashboard, validation 422, idempotent job run, S3 partitions. This slide stays up as the fallback if the network dies: the chart on it is real pipeline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(7:00–7:45) One sentence each. If asked why not DISTINCT ON for latest-per-sensor: portable GROUP BY+MAX works on both Postgres and the SQLite test DB — same portability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(7:45–8:45) The honest slide — graders love it. Pick the two best stories if short on time: the wrong-repo recovery (with this week's epilogue) and the tests-passing-alone bug (explain module import order in 15 seconds).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(8:45–9:15) Fast slide. The four numbers carry it; the sentence below ties testing back to the architecture story (adapters everywhere).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(9:15–9:45) Point out that all four bolt onto existing seams: auth onto the router layer, Athena onto the partitions the job already writes, alerts onto the aggregates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(9:45–10:00) Close. Likely questions: why not Kafka/Kinesis (scale doesn't justify it yet — the ingestion API is the seam where a queue would slot in), why hourly (matches dashboard granularity; the raw data supports re-aggregating finer).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"/>
            <a:ext cx="6217920" cy="6217920"/>
          </a:xfrm>
          <a:prstGeom prst="ellipse">
            <a:avLst/>
          </a:prstGeom>
          <a:solidFill>
            <a:srgbClr val="0E1E33">
              <a:alpha val="0"/>
            </a:srgbClr>
          </a:solidFill>
          <a:ln w="15875">
            <a:solidFill>
              <a:srgbClr val="1B33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1143000"/>
            <a:ext cx="4572000" cy="4572000"/>
          </a:xfrm>
          <a:prstGeom prst="ellipse">
            <a:avLst/>
          </a:prstGeom>
          <a:solidFill>
            <a:srgbClr val="0E1E33">
              <a:alpha val="0"/>
            </a:srgbClr>
          </a:solidFill>
          <a:ln w="15875">
            <a:solidFill>
              <a:srgbClr val="2040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74520"/>
            <a:ext cx="3108960" cy="3108960"/>
          </a:xfrm>
          <a:prstGeom prst="ellipse">
            <a:avLst/>
          </a:prstGeom>
          <a:solidFill>
            <a:srgbClr val="0E1E33">
              <a:alpha val="0"/>
            </a:srgbClr>
          </a:solidFill>
          <a:ln w="15875">
            <a:solidFill>
              <a:srgbClr val="2650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606040"/>
            <a:ext cx="1645920" cy="1645920"/>
          </a:xfrm>
          <a:prstGeom prst="ellipse">
            <a:avLst/>
          </a:prstGeom>
          <a:solidFill>
            <a:srgbClr val="0E1E33">
              <a:alpha val="0"/>
            </a:srgbClr>
          </a:solidFill>
          <a:ln w="15875">
            <a:solidFill>
              <a:srgbClr val="2E60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84664" y="3346704"/>
            <a:ext cx="164592" cy="164592"/>
          </a:xfrm>
          <a:prstGeom prst="ellipse">
            <a:avLst/>
          </a:prstGeom>
          <a:solidFill>
            <a:srgbClr val="1BAF7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Pipeline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66928" y="3127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ingestion  →  hourly analytics  →  live dashboard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66928" y="3822192"/>
            <a:ext cx="836676" cy="365760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9525">
            <a:solidFill>
              <a:srgbClr val="2E4E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822192"/>
            <a:ext cx="836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737360" y="3822192"/>
            <a:ext cx="1536192" cy="365760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9525">
            <a:solidFill>
              <a:srgbClr val="2E4E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37360" y="382219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(RDS)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29000" y="3822192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9525">
            <a:solidFill>
              <a:srgbClr val="2E4E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382219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lake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892040" y="3822192"/>
            <a:ext cx="1380744" cy="365760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9525">
            <a:solidFill>
              <a:srgbClr val="2E4E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3822192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CI/CD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537960" y="3822192"/>
            <a:ext cx="1613916" cy="365760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9525">
            <a:solidFill>
              <a:srgbClr val="2E4E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3822192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on Vercel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66928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Capstone  ·  Madhav  · 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never stop. Insights shouldn't either.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fleet of environmental sensors emits a reading every few seconds — thousands of rows a day, forever. </a:t>
            </a:r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firehose data is unusable on its own: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can't chart millions of raw rows on demand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teams need current values in seconds, not batch reports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must stay cheap to keep and possible to re-analyze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capstone: one pipeline that serves all three needs at once.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</p:sp>
      <p:sp>
        <p:nvSpPr>
          <p:cNvPr id="8" name="Shape 6"/>
          <p:cNvSpPr/>
          <p:nvPr/>
        </p:nvSpPr>
        <p:spPr>
          <a:xfrm>
            <a:off x="6537960" y="19933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4381" y="2159813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8562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continuously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1945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writes every 5 seconds, 24/7, with bad data rejected at the door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315468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</p:sp>
      <p:sp>
        <p:nvSpPr>
          <p:cNvPr id="13" name="Shape 10"/>
          <p:cNvSpPr/>
          <p:nvPr/>
        </p:nvSpPr>
        <p:spPr>
          <a:xfrm>
            <a:off x="6537960" y="34564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3622853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3319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now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360920" y="36576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 answers “what is every sensor reading right now?”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309360" y="46177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</p:sp>
      <p:sp>
        <p:nvSpPr>
          <p:cNvPr id="18" name="Shape 14"/>
          <p:cNvSpPr/>
          <p:nvPr/>
        </p:nvSpPr>
        <p:spPr>
          <a:xfrm>
            <a:off x="6537960" y="491947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381" y="5085893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60920" y="4782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it later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360920" y="51206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aggregates for charts + a Parquet data lake for future questions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path, analytics path, archive path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EDF4FC"/>
          </a:solidFill>
          <a:ln w="12700">
            <a:solidFill>
              <a:srgbClr val="C9DC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288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simulator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2121408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sensors · reading every 5 s · Docker service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66160" y="173736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DF4FC"/>
          </a:solidFill>
          <a:ln w="12700">
            <a:solidFill>
              <a:srgbClr val="C9D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888" y="182880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API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75888" y="212140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on EC2 :8001 · validates, stores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66560" y="173736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DF4FC"/>
          </a:solidFill>
          <a:ln w="12700">
            <a:solidFill>
              <a:srgbClr val="C9DC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6288" y="182880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· raw_readings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76288" y="212140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accepted reading · two timestamps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34640" y="2212848"/>
            <a:ext cx="713232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2212848"/>
            <a:ext cx="713232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324612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0E1E33"/>
          </a:solidFill>
          <a:ln w="12700">
            <a:solidFill>
              <a:srgbClr val="0E1E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6288" y="333756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job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76288" y="363016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cron, hourly · avg / min / max per sensor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01000" y="2697480"/>
            <a:ext cx="0" cy="530352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657600" y="475488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9F7F1"/>
          </a:solidFill>
          <a:ln w="12700">
            <a:solidFill>
              <a:srgbClr val="BFE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484632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lake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767328" y="513892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· raw/year=/month=/day=/hour=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475488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DF4FC"/>
          </a:solidFill>
          <a:ln w="12700">
            <a:solidFill>
              <a:srgbClr val="C9DC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484632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· hourly_aggregates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76288" y="513892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on (sensor, hour) — idempotent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flipH="1">
            <a:off x="5394960" y="4206240"/>
            <a:ext cx="1828800" cy="530352"/>
          </a:xfrm>
          <a:prstGeom prst="line">
            <a:avLst/>
          </a:prstGeom>
          <a:noFill/>
          <a:ln w="22225">
            <a:solidFill>
              <a:srgbClr val="1BAF7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01000" y="4206240"/>
            <a:ext cx="0" cy="530352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92640" y="32461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DF4FC"/>
          </a:solidFill>
          <a:ln w="12700">
            <a:solidFill>
              <a:srgbClr val="C9DC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02368" y="3337560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API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02368" y="363016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/insights/hourly · /summary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692640" y="47548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9F7F1"/>
          </a:solidFill>
          <a:ln w="12700">
            <a:solidFill>
              <a:srgbClr val="BFE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02368" y="4846320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802368" y="513892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on Vercel · polls 10–60 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235440" y="5230368"/>
            <a:ext cx="438912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71048" y="4224528"/>
            <a:ext cx="0" cy="512064"/>
          </a:xfrm>
          <a:prstGeom prst="line">
            <a:avLst/>
          </a:prstGeom>
          <a:noFill/>
          <a:ln w="22225">
            <a:solidFill>
              <a:srgbClr val="1BAF7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802368" y="44074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/api proxy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FastAPI app serves both write and read paths — the heavy lifting between them happens once an hour, not per request.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of one reading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EDF4FC"/>
          </a:solidFill>
          <a:ln/>
        </p:spPr>
      </p:sp>
      <p:sp>
        <p:nvSpPr>
          <p:cNvPr id="5" name="Shape 3"/>
          <p:cNvSpPr/>
          <p:nvPr/>
        </p:nvSpPr>
        <p:spPr>
          <a:xfrm>
            <a:off x="1225296" y="239572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491" y="2585923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331012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3232" y="3703320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at the edge: unknown types and impossible values → 422, never stored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51760" y="3611880"/>
            <a:ext cx="182880" cy="0"/>
          </a:xfrm>
          <a:prstGeom prst="line">
            <a:avLst/>
          </a:prstGeom>
          <a:noFill/>
          <a:ln w="2222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52928" y="210312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EDF4FC"/>
          </a:solidFill>
          <a:ln/>
        </p:spPr>
      </p:sp>
      <p:sp>
        <p:nvSpPr>
          <p:cNvPr id="12" name="Shape 9"/>
          <p:cNvSpPr/>
          <p:nvPr/>
        </p:nvSpPr>
        <p:spPr>
          <a:xfrm>
            <a:off x="3529584" y="239572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79" y="2585923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608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990088" y="331012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017520" y="3703320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raw_readings with recorded_at (device) and ingested_at (server)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956048" y="3611880"/>
            <a:ext cx="182880" cy="0"/>
          </a:xfrm>
          <a:prstGeom prst="line">
            <a:avLst/>
          </a:prstGeom>
          <a:noFill/>
          <a:ln w="2222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157216" y="210312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EDF4FC"/>
          </a:solidFill>
          <a:ln/>
        </p:spPr>
      </p:sp>
      <p:sp>
        <p:nvSpPr>
          <p:cNvPr id="19" name="Shape 15"/>
          <p:cNvSpPr/>
          <p:nvPr/>
        </p:nvSpPr>
        <p:spPr>
          <a:xfrm>
            <a:off x="5833872" y="239572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67" y="2585923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30368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294376" y="331012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5321808" y="3703320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cron: avg/min/max/count → upsert into hourly_aggregates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260336" y="3611880"/>
            <a:ext cx="182880" cy="0"/>
          </a:xfrm>
          <a:prstGeom prst="line">
            <a:avLst/>
          </a:prstGeom>
          <a:noFill/>
          <a:ln w="2222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461504" y="210312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EDF4FC"/>
          </a:solidFill>
          <a:ln/>
        </p:spPr>
      </p:sp>
      <p:sp>
        <p:nvSpPr>
          <p:cNvPr id="26" name="Shape 21"/>
          <p:cNvSpPr/>
          <p:nvPr/>
        </p:nvSpPr>
        <p:spPr>
          <a:xfrm>
            <a:off x="8138160" y="239572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355" y="2585923"/>
            <a:ext cx="351130" cy="35113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34656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598664" y="331012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7626096" y="3703320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batch → Parquet in S3, Hive partitions, overwrite-safe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9564624" y="3611880"/>
            <a:ext cx="182880" cy="0"/>
          </a:xfrm>
          <a:prstGeom prst="line">
            <a:avLst/>
          </a:prstGeom>
          <a:noFill/>
          <a:ln w="2222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9765792" y="210312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E9F7F1"/>
          </a:solidFill>
          <a:ln/>
        </p:spPr>
      </p:sp>
      <p:sp>
        <p:nvSpPr>
          <p:cNvPr id="33" name="Shape 27"/>
          <p:cNvSpPr/>
          <p:nvPr/>
        </p:nvSpPr>
        <p:spPr>
          <a:xfrm>
            <a:off x="10442448" y="239572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2643" y="2585923"/>
            <a:ext cx="351130" cy="35113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838944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9902952" y="331012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700" dirty="0"/>
          </a:p>
        </p:txBody>
      </p:sp>
      <p:sp>
        <p:nvSpPr>
          <p:cNvPr id="37" name="Text 30"/>
          <p:cNvSpPr/>
          <p:nvPr/>
        </p:nvSpPr>
        <p:spPr>
          <a:xfrm>
            <a:off x="9930384" y="3703320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polls /insights — cards every 10 s, charts every 60 s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Late-arriving data is safe: aggregation windows use the device clock, and re-running an hour corrects rather than duplicates.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invented under pressure — everything reused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E1E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40280" y="171907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FastAPI + Docker + GitHub Actions → EC2 deploy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2084832"/>
            <a:ext cx="320040" cy="0"/>
          </a:xfrm>
          <a:prstGeom prst="line">
            <a:avLst/>
          </a:prstGeom>
          <a:noFill/>
          <a:ln w="22225">
            <a:solidFill>
              <a:srgbClr val="1BAF7A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315200" y="171907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structure, same pipeline — new repo on port 8001 beside the employee API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E1E3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24912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40280" y="279806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EC2 · RDS · S3 · IAM roles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0" y="3163824"/>
            <a:ext cx="320040" cy="0"/>
          </a:xfrm>
          <a:prstGeom prst="line">
            <a:avLst/>
          </a:prstGeom>
          <a:noFill/>
          <a:ln w="22225">
            <a:solidFill>
              <a:srgbClr val="1BAF7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315200" y="279806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instances. New sensor_db on the same RDS; one new S3 bucket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E1E3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03904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40280" y="387705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DataSource / DataSink adapter pattern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0" y="4242816"/>
            <a:ext cx="320040" cy="0"/>
          </a:xfrm>
          <a:prstGeom prst="line">
            <a:avLst/>
          </a:prstGeom>
          <a:noFill/>
          <a:ln w="22225">
            <a:solidFill>
              <a:srgbClr val="1BAF7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5200" y="387705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ArchiveSink: local Parquet in dev, S3 in prod — one interface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82896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E1E3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82896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40280" y="495604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modelling, testing habits, ops runbooks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0" y="5321808"/>
            <a:ext cx="320040" cy="0"/>
          </a:xfrm>
          <a:prstGeom prst="line">
            <a:avLst/>
          </a:prstGeom>
          <a:noFill/>
          <a:ln w="22225">
            <a:solidFill>
              <a:srgbClr val="1BAF7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315200" y="495604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automated tests; deployment doc is a delta on the Week 4 runbook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infrastructure cost of the capstone: ≈ $0 (S3 pennies)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 of real pipeline output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9893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chart is not a mock-up — it is the pipeline's own hourly_aggregates table, plotted.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955280" y="169164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0E1E33"/>
          </a:solidFill>
          <a:ln/>
        </p:spPr>
      </p:sp>
      <p:sp>
        <p:nvSpPr>
          <p:cNvPr id="7" name="Text 4"/>
          <p:cNvSpPr/>
          <p:nvPr/>
        </p:nvSpPr>
        <p:spPr>
          <a:xfrm>
            <a:off x="8211312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0" y="23774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on Vercel — watch the live tick update every 10 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/docs — POST a reading; then humidity = 130 → 422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hourly job twice → same rows, not duplicates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console — Parquet partitions accumulating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11312" y="5349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sensor-dashboard.vercel.app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choices that carried the project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EDF4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2140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323490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transform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(sensor_id, hour_start) + upsert. Cron retries, late data, manual backfills — re-running an hour corrects it, never duplicates it.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62272" y="182880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EDF4FC"/>
          </a:solidFill>
          <a:ln/>
        </p:spPr>
      </p:sp>
      <p:sp>
        <p:nvSpPr>
          <p:cNvPr id="10" name="Shape 7"/>
          <p:cNvSpPr/>
          <p:nvPr/>
        </p:nvSpPr>
        <p:spPr>
          <a:xfrm>
            <a:off x="4736592" y="212140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674" y="232349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timestamps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36592" y="35661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recorded_at (device clock) drives aggregation windows; ingested_at (server clock) records reality. Cheap on day one, impossible to add later.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75904" y="182880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E9F7F1"/>
          </a:solidFill>
          <a:ln/>
        </p:spPr>
      </p:sp>
      <p:sp>
        <p:nvSpPr>
          <p:cNvPr id="15" name="Shape 11"/>
          <p:cNvSpPr/>
          <p:nvPr/>
        </p:nvSpPr>
        <p:spPr>
          <a:xfrm>
            <a:off x="8650224" y="212140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306" y="2323490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50224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API proxy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50224" y="35661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Vercel page can't call the http EC2 API (mixed content). Next.js rewrites /api/* server-side — which also deletes the CORS problem.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 tissue — what actually went wrong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66928" cy="566928"/>
          </a:xfrm>
          <a:prstGeom prst="ellipse">
            <a:avLst/>
          </a:prstGeom>
          <a:solidFill>
            <a:srgbClr val="1630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1775033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7276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committed to the wrong repo (Week 3)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17320" y="189280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the branch, learned git surgery — and this week found (and removed) an accidental git repo in the home directory.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615184"/>
            <a:ext cx="566928" cy="566928"/>
          </a:xfrm>
          <a:prstGeom prst="ellipse">
            <a:avLst/>
          </a:prstGeom>
          <a:solidFill>
            <a:srgbClr val="16304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2762585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5603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password resets (Week 5)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17320" y="2880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out of the database mid-project. Now: credentials only in .env / secrets, never hardcoded.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602736"/>
            <a:ext cx="566928" cy="566928"/>
          </a:xfrm>
          <a:prstGeom prst="ellipse">
            <a:avLst/>
          </a:prstGeom>
          <a:solidFill>
            <a:srgbClr val="16304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375013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478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 rotation (Week 7)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17320" y="3867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broke silently after rotation. Now: keys live in GitHub secrets; the pipeline is the only deployer.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590288"/>
            <a:ext cx="566928" cy="566928"/>
          </a:xfrm>
          <a:prstGeom prst="ellipse">
            <a:avLst/>
          </a:prstGeom>
          <a:solidFill>
            <a:srgbClr val="16304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4737689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53542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content on Vercel (capstone)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417320" y="48554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page + http API = blocked by the browser. Solved with a server-side proxy rewrite instead of hacking CORS.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5577840"/>
            <a:ext cx="566928" cy="566928"/>
          </a:xfrm>
          <a:prstGeom prst="ellipse">
            <a:avLst/>
          </a:prstGeom>
          <a:solidFill>
            <a:srgbClr val="16304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725241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52297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 alone, failed together (capstone)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417320" y="584301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test files fought over one FastAPI dependency override at import time. Fix: scope overrides inside fixtures.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at every layer, gated on every push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transform job, simulator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8745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61188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needed in CI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one dependency override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53796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proven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tests and in the live demo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18745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946404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gates per push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09760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→ image build → EC2 deploy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that makes it possible: </a:t>
            </a:r>
            <a:pPr indent="0" marL="0"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layer is the only code that touches the database, so tests swap Postgres for in-memory SQLite with one override — the same adapter thinking that swaps the archive between local disk and S3.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3911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2174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authentication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441448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Per-sensor API keys on the ingestion endpoint (Week 6 JWT work adapts directly)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</p:sp>
      <p:sp>
        <p:nvSpPr>
          <p:cNvPr id="10" name="Shape 7"/>
          <p:cNvSpPr/>
          <p:nvPr/>
        </p:nvSpPr>
        <p:spPr>
          <a:xfrm>
            <a:off x="6611112" y="203911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21742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not poll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98080" y="2441448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/ SSE so the dashboard updates the second a reading lands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414223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32054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lake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4544568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Athena + Glue over the existing Hive partitions — SQL on years of history, serverless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8862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611112" y="414223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420" y="432054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98080" y="4544568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readings far outside the rolling hourly band; notify via SNS before things break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extends an existing seam — none requires re-architecting.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286000"/>
            <a:ext cx="6217920" cy="6217920"/>
          </a:xfrm>
          <a:prstGeom prst="ellipse">
            <a:avLst/>
          </a:prstGeom>
          <a:solidFill>
            <a:srgbClr val="0E1E33">
              <a:alpha val="0"/>
            </a:srgbClr>
          </a:solidFill>
          <a:ln w="15875">
            <a:solidFill>
              <a:srgbClr val="1B33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3108960"/>
            <a:ext cx="4572000" cy="4572000"/>
          </a:xfrm>
          <a:prstGeom prst="ellipse">
            <a:avLst/>
          </a:prstGeom>
          <a:solidFill>
            <a:srgbClr val="0E1E33">
              <a:alpha val="0"/>
            </a:srgbClr>
          </a:solidFill>
          <a:ln w="15875">
            <a:solidFill>
              <a:srgbClr val="2040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3840480"/>
            <a:ext cx="3108960" cy="3108960"/>
          </a:xfrm>
          <a:prstGeom prst="ellipse">
            <a:avLst/>
          </a:prstGeom>
          <a:solidFill>
            <a:srgbClr val="0E1E33">
              <a:alpha val="0"/>
            </a:srgbClr>
          </a:solidFill>
          <a:ln w="15875">
            <a:solidFill>
              <a:srgbClr val="2650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572000"/>
            <a:ext cx="1645920" cy="1645920"/>
          </a:xfrm>
          <a:prstGeom prst="ellipse">
            <a:avLst/>
          </a:prstGeom>
          <a:solidFill>
            <a:srgbClr val="0E1E33">
              <a:alpha val="0"/>
            </a:srgbClr>
          </a:solidFill>
          <a:ln w="15875">
            <a:solidFill>
              <a:srgbClr val="2E60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58984" y="5312664"/>
            <a:ext cx="164592" cy="164592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66928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00507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github.com/Maaadhavq/sensor-data-pipeline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26480" y="3995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jobs, simulator, docs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6634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4636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github.com/Maaadhavq/sensor-dashboard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126480" y="46542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32180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52943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sensor-dashboard.vercel.app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126480" y="5312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2026-07-17T04:12:10Z</dcterms:created>
  <dcterms:modified xsi:type="dcterms:W3CDTF">2026-07-17T04:12:10Z</dcterms:modified>
</cp:coreProperties>
</file>